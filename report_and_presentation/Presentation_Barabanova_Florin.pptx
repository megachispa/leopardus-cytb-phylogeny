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E3ED5C-9F0A-48FB-A567-E0DF868803FE}">
  <a:tblStyle styleId="{9AE3ED5C-9F0A-48FB-A567-E0DF868803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d348fbf2cbd5c1f_6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d348fbf2cbd5c1f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5ca0f98d26e42c2_17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5ca0f98d26e42c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446a973a4a598d53_3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h446a973a4a598d5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doi.org/10.1093/molbev/msad255" TargetMode="External"/><Relationship Id="rId5" Type="http://schemas.openxmlformats.org/officeDocument/2006/relationships/hyperlink" Target="https://doi.org/10.1093/molbev/msad255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980"/>
              <a:t>How Well Does a Single Mitochondrial Gene (CYTB) Reconstruct </a:t>
            </a:r>
            <a:r>
              <a:rPr i="1" lang="ru" sz="3980"/>
              <a:t>Leopardus</a:t>
            </a:r>
            <a:r>
              <a:rPr lang="ru" sz="3980"/>
              <a:t> Phylogeny?</a:t>
            </a:r>
            <a:endParaRPr sz="39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870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Elizaveta Barabanova</a:t>
            </a:r>
            <a:endParaRPr sz="2400"/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Victor Florin 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905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Classification of the genus </a:t>
            </a:r>
            <a:r>
              <a:rPr i="1" lang="ru" sz="3000"/>
              <a:t>Leopardus</a:t>
            </a:r>
            <a:endParaRPr i="1" sz="30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25" y="1032325"/>
            <a:ext cx="5238451" cy="3052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9000" y="917950"/>
            <a:ext cx="1523299" cy="228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425" y="917950"/>
            <a:ext cx="2092801" cy="139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925" y="2273850"/>
            <a:ext cx="1090625" cy="14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1450" y="2554125"/>
            <a:ext cx="1357873" cy="16977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726325" y="4193250"/>
            <a:ext cx="74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Ocelot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1688" y="3684875"/>
            <a:ext cx="13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Geoffroy’s Cat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238950" y="2231900"/>
            <a:ext cx="16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Kodkod / guigna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7275400" y="3129400"/>
            <a:ext cx="96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Margay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06925" y="4085075"/>
            <a:ext cx="8113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	 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	 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</a:rPr>
              <a:t>Kitchener, A. C., Breitenmoser-Würsten, C., Eizirik, E., et al. (2017). </a:t>
            </a:r>
            <a:r>
              <a:rPr i="1" lang="ru" sz="900">
                <a:solidFill>
                  <a:schemeClr val="dk1"/>
                </a:solidFill>
              </a:rPr>
              <a:t>A revised taxonomy of the Felidae: The final report of the Cat Classification Task Force of the IUCN/SSC Cat Specialist Group</a:t>
            </a:r>
            <a:r>
              <a:rPr lang="ru" sz="900">
                <a:solidFill>
                  <a:schemeClr val="dk1"/>
                </a:solidFill>
              </a:rPr>
              <a:t>. </a:t>
            </a:r>
            <a:r>
              <a:rPr i="1" lang="ru" sz="900">
                <a:solidFill>
                  <a:schemeClr val="dk1"/>
                </a:solidFill>
              </a:rPr>
              <a:t>Cat News</a:t>
            </a:r>
            <a:r>
              <a:rPr lang="ru" sz="900">
                <a:solidFill>
                  <a:schemeClr val="dk1"/>
                </a:solidFill>
              </a:rPr>
              <a:t>, Special Issue 11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25" y="1699200"/>
            <a:ext cx="2518527" cy="2988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587825" y="248000"/>
            <a:ext cx="8294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Jonas Lescroart</a:t>
            </a:r>
            <a:r>
              <a:rPr lang="ru" sz="1300">
                <a:solidFill>
                  <a:schemeClr val="dk1"/>
                </a:solidFill>
              </a:rPr>
              <a:t>, Alejandra Bonilla-Sánchez, Constanza Napolitano, Diana L Buitrago-Torres, Héctor E Ramírez-Chaves, Paola Pulido-Santacruz, William J Murphy, Hannes Svardal, Eduardo Eizirik, </a:t>
            </a:r>
            <a:r>
              <a:rPr b="1" lang="ru" sz="1500">
                <a:solidFill>
                  <a:schemeClr val="dk1"/>
                </a:solidFill>
              </a:rPr>
              <a:t>Extensive Phylogenomic Discordance and the Complex Evolutionary History of the Neotropical Cat Genus </a:t>
            </a:r>
            <a:r>
              <a:rPr b="1" i="1" lang="ru" sz="1500">
                <a:solidFill>
                  <a:schemeClr val="dk1"/>
                </a:solidFill>
              </a:rPr>
              <a:t>Leopardus</a:t>
            </a:r>
            <a:r>
              <a:rPr b="1" lang="ru" sz="1300">
                <a:solidFill>
                  <a:schemeClr val="dk1"/>
                </a:solidFill>
              </a:rPr>
              <a:t>,</a:t>
            </a:r>
            <a:r>
              <a:rPr lang="ru" sz="1300">
                <a:solidFill>
                  <a:schemeClr val="dk1"/>
                </a:solidFill>
              </a:rPr>
              <a:t> </a:t>
            </a:r>
            <a:r>
              <a:rPr i="1" lang="ru" sz="1300">
                <a:solidFill>
                  <a:schemeClr val="dk1"/>
                </a:solidFill>
              </a:rPr>
              <a:t>Molecular Biology and Evolution</a:t>
            </a:r>
            <a:r>
              <a:rPr lang="ru" sz="1300">
                <a:solidFill>
                  <a:schemeClr val="dk1"/>
                </a:solidFill>
              </a:rPr>
              <a:t>, Volume 40, Issue 12, December 2023, msad255,</a:t>
            </a:r>
            <a:r>
              <a:rPr lang="ru" sz="13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u" sz="1300" u="sng">
                <a:solidFill>
                  <a:schemeClr val="hlink"/>
                </a:solidFill>
                <a:hlinkClick r:id="rId5"/>
              </a:rPr>
              <a:t>https://doi.org/10.1093/molbev/msad255</a:t>
            </a:r>
            <a:endParaRPr sz="1300" u="sng">
              <a:solidFill>
                <a:schemeClr val="hlink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646350" y="1802225"/>
            <a:ext cx="5051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ru" sz="2800"/>
              <a:t>Tree based on complete </a:t>
            </a:r>
            <a:r>
              <a:rPr lang="ru" sz="2800"/>
              <a:t>mitochondrial</a:t>
            </a:r>
            <a:r>
              <a:rPr lang="ru" sz="2800"/>
              <a:t> genome</a:t>
            </a:r>
            <a:endParaRPr sz="2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ru" sz="2800"/>
              <a:t>Consensus tree based on nuclear DNA</a:t>
            </a:r>
            <a:br>
              <a:rPr lang="ru"/>
            </a:br>
            <a:r>
              <a:rPr lang="ru"/>
              <a:t>	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587825" y="4632900"/>
            <a:ext cx="152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Jonas Lescroart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450050" y="371550"/>
            <a:ext cx="832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356"/>
              <a:t>CYTB: traditional marker in phylogentic studies</a:t>
            </a:r>
            <a:r>
              <a:rPr lang="ru"/>
              <a:t> 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471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65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6798">
                <a:solidFill>
                  <a:schemeClr val="dk1"/>
                </a:solidFill>
              </a:rPr>
              <a:t>Relatively fast evolutionary rate</a:t>
            </a:r>
            <a:r>
              <a:rPr lang="ru" sz="6798">
                <a:solidFill>
                  <a:schemeClr val="dk1"/>
                </a:solidFill>
              </a:rPr>
              <a:t> → useful for distinguishing closely related species</a:t>
            </a:r>
            <a:endParaRPr sz="679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98">
              <a:solidFill>
                <a:schemeClr val="dk1"/>
              </a:solidFill>
            </a:endParaRPr>
          </a:p>
          <a:p>
            <a:pPr indent="-3365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6798">
                <a:solidFill>
                  <a:schemeClr val="dk1"/>
                </a:solidFill>
              </a:rPr>
              <a:t>Clean maternal lineage signal</a:t>
            </a:r>
            <a:r>
              <a:rPr lang="ru" sz="6798">
                <a:solidFill>
                  <a:schemeClr val="dk1"/>
                </a:solidFill>
              </a:rPr>
              <a:t> → little recombination, simple genealogy</a:t>
            </a:r>
            <a:endParaRPr sz="679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98">
              <a:solidFill>
                <a:schemeClr val="dk1"/>
              </a:solidFill>
            </a:endParaRPr>
          </a:p>
          <a:p>
            <a:pPr indent="-3365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6798">
                <a:solidFill>
                  <a:schemeClr val="dk1"/>
                </a:solidFill>
              </a:rPr>
              <a:t>Extensive reference data available</a:t>
            </a:r>
            <a:r>
              <a:rPr lang="ru" sz="6798">
                <a:solidFill>
                  <a:schemeClr val="dk1"/>
                </a:solidFill>
              </a:rPr>
              <a:t> </a:t>
            </a:r>
            <a:endParaRPr sz="679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9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127" y="1152473"/>
            <a:ext cx="3080475" cy="31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67850" y="243300"/>
            <a:ext cx="8073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Our pipeline</a:t>
            </a:r>
            <a:endParaRPr sz="3000"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750" y="1090850"/>
            <a:ext cx="7237499" cy="380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18"/>
          <p:cNvGraphicFramePr/>
          <p:nvPr/>
        </p:nvGraphicFramePr>
        <p:xfrm>
          <a:off x="550250" y="14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{9AE3ED5C-9F0A-48FB-A567-E0DF868803FE}</a:tableStyleId>
              </a:tblPr>
              <a:tblGrid>
                <a:gridCol w="1351175"/>
                <a:gridCol w="68576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Assumption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Meaning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400"/>
                        <a:t>HKY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The model estimates transitions and transversions in the sequences and allows them to occur at different rates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400"/>
                        <a:t>+F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A, C, G and T occur at different frequencies, the model uses the observed frequencies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400"/>
                        <a:t>+G4</a:t>
                      </a:r>
                      <a:endParaRPr b="1"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Some positions in CYTB change quicker than others. The model divides sites into 4 categories, from slower to faster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7" name="Google Shape;97;p18"/>
          <p:cNvSpPr txBox="1"/>
          <p:nvPr>
            <p:ph type="title"/>
          </p:nvPr>
        </p:nvSpPr>
        <p:spPr>
          <a:xfrm>
            <a:off x="491125" y="404125"/>
            <a:ext cx="8327100" cy="8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356"/>
              <a:t>ModelFinder as</a:t>
            </a:r>
            <a:r>
              <a:rPr lang="ru" sz="3356"/>
              <a:t>sumptions</a:t>
            </a:r>
            <a:r>
              <a:rPr lang="ru"/>
              <a:t> 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550250" y="4004725"/>
            <a:ext cx="61179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More assumptions?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                               ✅ </a:t>
            </a:r>
            <a:r>
              <a:rPr b="1" lang="ru" sz="1100">
                <a:solidFill>
                  <a:schemeClr val="dk1"/>
                </a:solidFill>
              </a:rPr>
              <a:t>Partitioning:</a:t>
            </a:r>
            <a:r>
              <a:rPr lang="ru" sz="1100">
                <a:solidFill>
                  <a:schemeClr val="dk1"/>
                </a:solidFill>
              </a:rPr>
              <a:t> using a different model for the </a:t>
            </a:r>
            <a:r>
              <a:rPr b="1" lang="ru" sz="1100">
                <a:solidFill>
                  <a:schemeClr val="dk1"/>
                </a:solidFill>
              </a:rPr>
              <a:t>third codon positions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025" y="449650"/>
            <a:ext cx="7454648" cy="424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150" y="244250"/>
            <a:ext cx="6797901" cy="45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91125" y="404125"/>
            <a:ext cx="8327100" cy="8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356"/>
              <a:t>Conclusio</a:t>
            </a:r>
            <a:r>
              <a:rPr lang="ru" sz="3356"/>
              <a:t>ns</a:t>
            </a:r>
            <a:r>
              <a:rPr lang="ru"/>
              <a:t> 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79362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65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6798">
                <a:solidFill>
                  <a:schemeClr val="dk1"/>
                </a:solidFill>
              </a:rPr>
              <a:t>CYTB recovered</a:t>
            </a:r>
            <a:r>
              <a:rPr b="1" lang="ru" sz="6798">
                <a:solidFill>
                  <a:schemeClr val="dk1"/>
                </a:solidFill>
              </a:rPr>
              <a:t> some evolutionary relationships</a:t>
            </a:r>
            <a:endParaRPr b="1" sz="679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798">
              <a:solidFill>
                <a:schemeClr val="dk1"/>
              </a:solidFill>
            </a:endParaRPr>
          </a:p>
          <a:p>
            <a:pPr indent="-3365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6798">
                <a:solidFill>
                  <a:schemeClr val="dk1"/>
                </a:solidFill>
              </a:rPr>
              <a:t>Insufficient to resolve all parts of the genus phylogeny</a:t>
            </a:r>
            <a:endParaRPr b="1" sz="679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6798">
                <a:solidFill>
                  <a:schemeClr val="dk1"/>
                </a:solidFill>
              </a:rPr>
              <a:t>BUT</a:t>
            </a:r>
            <a:endParaRPr b="1" sz="6798">
              <a:solidFill>
                <a:schemeClr val="dk1"/>
              </a:solidFill>
            </a:endParaRPr>
          </a:p>
          <a:p>
            <a:pPr indent="-3365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i="1" lang="ru" sz="6798">
                <a:solidFill>
                  <a:schemeClr val="dk1"/>
                </a:solidFill>
              </a:rPr>
              <a:t>Leopardus</a:t>
            </a:r>
            <a:r>
              <a:rPr b="1" lang="ru" sz="6798">
                <a:solidFill>
                  <a:schemeClr val="dk1"/>
                </a:solidFill>
              </a:rPr>
              <a:t> is a genus with a complex history</a:t>
            </a:r>
            <a:endParaRPr b="1" sz="679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6798">
                <a:solidFill>
                  <a:schemeClr val="dk1"/>
                </a:solidFill>
              </a:rPr>
              <a:t>                 incomplete lineage sorting (ILS)</a:t>
            </a:r>
            <a:endParaRPr b="1" sz="679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6798">
                <a:solidFill>
                  <a:schemeClr val="dk1"/>
                </a:solidFill>
              </a:rPr>
              <a:t>                 introgression</a:t>
            </a:r>
            <a:endParaRPr b="1" sz="6798">
              <a:solidFill>
                <a:schemeClr val="dk1"/>
              </a:solidFill>
            </a:endParaRPr>
          </a:p>
          <a:p>
            <a:pPr indent="-3365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 sz="6798">
                <a:solidFill>
                  <a:schemeClr val="dk1"/>
                </a:solidFill>
              </a:rPr>
              <a:t> WGS-based tree: conflicting signals across different genes, no “true tree” so far</a:t>
            </a:r>
            <a:endParaRPr b="1" sz="6798">
              <a:solidFill>
                <a:schemeClr val="dk1"/>
              </a:solidFill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9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03100" y="404125"/>
            <a:ext cx="8515200" cy="8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356"/>
              <a:t>    Mitochondrial capture</a:t>
            </a:r>
            <a:r>
              <a:rPr lang="ru"/>
              <a:t> 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53" y="1332687"/>
            <a:ext cx="1467274" cy="219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303100" y="3531625"/>
            <a:ext cx="153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Pampas cat female (</a:t>
            </a:r>
            <a:r>
              <a:rPr i="1" lang="ru" sz="1300">
                <a:solidFill>
                  <a:schemeClr val="dk1"/>
                </a:solidFill>
              </a:rPr>
              <a:t>Leopardus colocola</a:t>
            </a:r>
            <a:r>
              <a:rPr lang="ru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3656450" y="126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{9AE3ED5C-9F0A-48FB-A567-E0DF868803FE}</a:tableStyleId>
              </a:tblPr>
              <a:tblGrid>
                <a:gridCol w="655925"/>
                <a:gridCol w="1404600"/>
                <a:gridCol w="1893025"/>
                <a:gridCol w="1107275"/>
              </a:tblGrid>
              <a:tr h="58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Gen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Mating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N</a:t>
                      </a:r>
                      <a:r>
                        <a:rPr b="1" lang="ru" sz="1100"/>
                        <a:t>uclear genome of offspring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Mitochondrial DNA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3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Pampas-cat ♀ × tiger-cat ♂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50% pampas cat + </a:t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       50% tiger cat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100% pampas-cat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3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2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Hybrid ♀ × tiger-cat ♂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25% pampas cat + </a:t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       75% tiger cat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100% pampas-cat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3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3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Hybrid ♀ × tiger-cat ♂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12.5% pampas cat </a:t>
                      </a:r>
                      <a:endParaRPr b="1"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       87.5% tiger cat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100% pampas-cat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1300" y="1353371"/>
            <a:ext cx="1726800" cy="2157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/>
        </p:nvSpPr>
        <p:spPr>
          <a:xfrm>
            <a:off x="1791300" y="3510925"/>
            <a:ext cx="172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Tiger</a:t>
            </a:r>
            <a:r>
              <a:rPr lang="ru" sz="1300">
                <a:solidFill>
                  <a:schemeClr val="dk1"/>
                </a:solidFill>
              </a:rPr>
              <a:t> cat male (</a:t>
            </a:r>
            <a:r>
              <a:rPr i="1" lang="ru" sz="1300">
                <a:solidFill>
                  <a:schemeClr val="dk1"/>
                </a:solidFill>
              </a:rPr>
              <a:t>Leopardus tigrinus ssp. emiliae</a:t>
            </a:r>
            <a:r>
              <a:rPr lang="ru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506775" y="19441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Thanks!</a:t>
            </a:r>
            <a:endParaRPr sz="3000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125" y="185725"/>
            <a:ext cx="380047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